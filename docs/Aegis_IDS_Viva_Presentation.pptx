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EC7C2"/>
                </a:solidFill>
                <a:latin typeface="Calibri"/>
              </a:rPr>
              <a:t>Aegis IDS</a:t>
            </a:r>
          </a:p>
          <a:p>
            <a:pPr algn="ctr"/>
            <a:r>
              <a:rPr sz="2400" b="0">
                <a:solidFill>
                  <a:srgbClr val="E7F0F5"/>
                </a:solidFill>
                <a:latin typeface="Calibri"/>
              </a:rPr>
              <a:t>Intelligent ML-Based Intrusion Detection
&amp; Attack–Defense Simulation System</a:t>
            </a:r>
          </a:p>
          <a:p>
            <a:pPr algn="ctr"/>
            <a:r>
              <a:rPr sz="1600" b="0">
                <a:solidFill>
                  <a:srgbClr val="8FA6B5"/>
                </a:solidFill>
                <a:latin typeface="Calibri"/>
              </a:rPr>
              <a:t>
Team members  ·  College  · 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C7C2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8FA6B5"/>
                </a:solidFill>
                <a:latin typeface="Calibri"/>
              </a:rPr>
              <a:t>Why a classic IDS alert is not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Typical IDS output: “Attack detected.”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Analysts still need: attack type · why · severity · recommended action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Students/evaluators also need a visual attack → defense story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Gap: detection alone ≠ security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C7C2"/>
                </a:solidFill>
                <a:latin typeface="Calibri"/>
              </a:rPr>
              <a:t>Our solution (one pipeline)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E7F0F5"/>
                </a:solidFill>
                <a:latin typeface="Calibri"/>
              </a:rPr>
              <a:t>•  Detect → Classify → Explain → Assess risk → Recommend → Simulate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E7F0F5"/>
                </a:solidFill>
                <a:latin typeface="Calibri"/>
              </a:rPr>
              <a:t>•  Platform name: Aegis IDS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E7F0F5"/>
                </a:solidFill>
                <a:latin typeface="Calibri"/>
              </a:rPr>
              <a:t>•  Contribution: integration framework — not a claim of a new IDS algorithm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C7C2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React UI  ↔  FastAPI  ↔  ML + Risk + Recommendations + Simulation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Data: CICIDS2017 flows · trained models · SQLite incidents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Two-stage ML: binary (benign vs attack) then attack-family multiclass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XAI: SHAP (primary) + LIME (secondary)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C7C2"/>
                </a:solidFill>
                <a:latin typeface="Calibri"/>
              </a:rPr>
              <a:t>Dataset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8FA6B5"/>
                </a:solidFill>
                <a:latin typeface="Calibri"/>
              </a:rPr>
              <a:t>CICIDS2017 MachineLearningCVE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Clean · normalize labels · drop rare classes (&lt;50 samples)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~2.52M flows after cleaning; stratified train/val/test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Scaler + SelectKBest fit on train only (no leakage)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Families: BENIGN, DoS, DDoS, PortScan, BruteForce, WebAttack, Bot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C7C2"/>
                </a:solidFill>
                <a:latin typeface="Calibri"/>
              </a:rPr>
              <a:t>Two-stage ML results (RQ1)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8FA6B5"/>
                </a:solidFill>
                <a:latin typeface="Calibri"/>
              </a:rPr>
              <a:t>Best model: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Binary test: F1 ≈ 0.993 · Recall ≈ 0.990 · ROC-AUC ≈ 0.9999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Multiclass test: weighted F1 ≈ 0.998 · macro F1 ≈ 0.917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Compared LR, Decision Tree, Random Forest, XGBoost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For IDS, recall/precision/F1 matter more than raw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C7C2"/>
                </a:solidFill>
                <a:latin typeface="Calibri"/>
              </a:rPr>
              <a:t>Evaluation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8FA6B5"/>
                </a:solidFill>
                <a:latin typeface="Calibri"/>
              </a:rPr>
              <a:t>Confusion matrix &amp; ROC</a:t>
            </a:r>
          </a:p>
        </p:txBody>
      </p:sp>
      <p:pic>
        <p:nvPicPr>
          <p:cNvPr id="5" name="Picture 4" descr="binary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486400" cy="4389120"/>
          </a:xfrm>
          <a:prstGeom prst="rect">
            <a:avLst/>
          </a:prstGeom>
        </p:spPr>
      </p:pic>
      <p:pic>
        <p:nvPicPr>
          <p:cNvPr id="6" name="Picture 5" descr="binary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C7C2"/>
                </a:solidFill>
                <a:latin typeface="Calibri"/>
              </a:rPr>
              <a:t>Explainability (RQ2 / RQ3)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SHAP: feature contributions for each prediction (primary)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LIME: local surrogate explanation (secondary)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Live demo: Detection → Why? → SHAP / LIME tabs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Supports analyst trust — not treated as causal proof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C7C2"/>
                </a:solidFill>
                <a:latin typeface="Calibri"/>
              </a:rPr>
              <a:t>Risk &amp; recommendations (RQ4)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Risk blends attack-family base + confidence + traffic intensity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Severity bands: LOW / MEDIUM / HIGH / CRITICAL (configurable)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Playbooks: rate limiting, filtering, WAF, isolation, …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Advisory only — platform does not auto-block real networks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C7C2"/>
                </a:solidFill>
                <a:latin typeface="Calibri"/>
              </a:rPr>
              <a:t>Simulation (RQ5) —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8FA6B5"/>
                </a:solidFill>
                <a:latin typeface="Calibri"/>
              </a:rPr>
              <a:t>Attack → Detect → Defend → Recover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Simplified topology: Attacker → Firewall → Router → Server / PCs + IDS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Step through: normal → attack → impact → IDS alert → defense → recovery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Safety: controlled visualization only — no real cyberattacks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Open UI → Simulation → New scenario → Next / Apply defense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C7C2"/>
                </a:solidFill>
                <a:latin typeface="Calibri"/>
              </a:rPr>
              <a:t>Contribution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Contribution: integrated decision-support + visualization for ML-IDS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Limits: CICIDS2017 age / concept drift; pedagogical simulator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Limits: rule-mapped recommendations (not learned policies)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F0F5"/>
                </a:solidFill>
                <a:latin typeface="Calibri"/>
              </a:rPr>
              <a:t>•  Future: live PCAP→flows, PostgreSQL, analyst feedback loop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EC7C2"/>
                </a:solidFill>
                <a:latin typeface="Calibri"/>
              </a:rPr>
              <a:t>Questions?</a:t>
            </a:r>
          </a:p>
          <a:p>
            <a:pPr algn="ctr"/>
            <a:r>
              <a:rPr sz="1600" b="0">
                <a:solidFill>
                  <a:srgbClr val="8FA6B5"/>
                </a:solidFill>
                <a:latin typeface="Calibri"/>
              </a:rPr>
              <a:t>Demo script: docs/DEMO.md   ·   Report: docs/Aegis_IDS_Project_Report.docx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