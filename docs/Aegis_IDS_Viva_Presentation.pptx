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3EC7C2"/>
                </a:solidFill>
                <a:latin typeface="Calibri"/>
              </a:rPr>
              <a:t>Aegis IDS</a:t>
            </a:r>
          </a:p>
          <a:p>
            <a:pPr algn="ctr"/>
            <a:r>
              <a:rPr sz="2400" b="0">
                <a:solidFill>
                  <a:srgbClr val="E7F0F5"/>
                </a:solidFill>
                <a:latin typeface="Calibri"/>
              </a:rPr>
              <a:t>Intelligent ML-Based Intrusion Detection
&amp; Attack–Defense Simulation System</a:t>
            </a:r>
          </a:p>
          <a:p>
            <a:pPr algn="ctr"/>
            <a:r>
              <a:rPr sz="1600" b="0">
                <a:solidFill>
                  <a:srgbClr val="8FA6B5"/>
                </a:solidFill>
                <a:latin typeface="Calibri"/>
              </a:rPr>
              <a:t>
Frozen v1.1  ·  Decision Tree @ 0.85  ·  Random Forest (attack-only)</a:t>
            </a:r>
          </a:p>
          <a:p>
            <a:pPr algn="ctr"/>
            <a:r>
              <a:rPr sz="1400" b="0">
                <a:solidFill>
                  <a:srgbClr val="8FA6B5"/>
                </a:solidFill>
                <a:latin typeface="Calibri"/>
              </a:rPr>
              <a:t>Team members  ·  College  ·  Year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8FA6B5"/>
                </a:solidFill>
                <a:latin typeface="Calibri"/>
              </a:rPr>
              <a:t>Why a classic IDS alert is not enough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Typical IDS output: “Attack detected.”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Analysts still need: attack type · why · severity · recommended action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Evaluators also need a visual attack → defense story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Gap: detection alone ≠ security decision support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Our solution (one pipeline)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E7F0F5"/>
                </a:solidFill>
                <a:latin typeface="Calibri"/>
              </a:rPr>
              <a:t>•  Detect → Classify → Explain → Assess risk → Recommend → Simulate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E7F0F5"/>
                </a:solidFill>
                <a:latin typeface="Calibri"/>
              </a:rPr>
              <a:t>•  Platform: Aegis IDS (prototype / decision-support)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E7F0F5"/>
                </a:solidFill>
                <a:latin typeface="Calibri"/>
              </a:rPr>
              <a:t>•  Contribution: integration + honest evaluation — not a new IDS algorithm claim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E7F0F5"/>
                </a:solidFill>
                <a:latin typeface="Calibri"/>
              </a:rPr>
              <a:t>•  Safety: no live capture claim · no automatic network blocking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React UI  ↔  FastAPI  ↔  ML + Risk + Recommendations + Simulation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Data: CICIDS2017 MachineLearningCVE · trained models · SQLite incidents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Two-stage ML: binary then attack-family multiclass (no BENIGN in Stage-2)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XAI: SHAP (primary) + LIME (secondary)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Dataset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8FA6B5"/>
                </a:solidFill>
                <a:latin typeface="Calibri"/>
              </a:rPr>
              <a:t>CICIDS2017 MachineLearningCVE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Clean · normalize labels · drop rare classes (&lt;50 samples)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~2.52M flows after cleaning; stratified train/val/test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StandardScaler + SelectKBest(f_classif, k=40) fit on train only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Attack families: Bot · BruteForce · DDoS · DoS · PortScan · WebAttack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Two-stage ML results (RQ1)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8FA6B5"/>
                </a:solidFill>
                <a:latin typeface="Calibri"/>
              </a:rPr>
              <a:t>Binary: Decision Tree @ 0.85  ·  Multiclass: Random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E7F0F5"/>
                </a:solidFill>
                <a:latin typeface="Calibri"/>
              </a:rPr>
              <a:t>•  Binary test: F1 0.99048 · Recall 0.997 · ROC-AUC 0.99916 · FPR 0.00329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E7F0F5"/>
                </a:solidFill>
                <a:latin typeface="Calibri"/>
              </a:rPr>
              <a:t>•  Multiclass test: macro-F1 0.99813 · weighted-F1 0.99979 · accuracy 0.99979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E7F0F5"/>
                </a:solidFill>
                <a:latin typeface="Calibri"/>
              </a:rPr>
              <a:t>•  Candidates compared: LR, Decision Tree, Random Forest, XGBoost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E7F0F5"/>
                </a:solidFill>
                <a:latin typeface="Calibri"/>
              </a:rPr>
              <a:t>•  IID benchmark strength ≠ live-deployment performance guarantee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Why Decision Tree (not XGBoost)?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8FA6B5"/>
                </a:solidFill>
                <a:latin typeface="Calibri"/>
              </a:rPr>
              <a:t>Multi-objective selection — recall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Weights: recall 0.30 · F1 0.25 · PR-AUC 0.20 · FPR 0.15 · latency 0.10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XGBoost can win raw F1; Decision Tree wins attack recall → selected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Multiclass: Random Forest edges XGBoost on macro/weighted blend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For IDS, missed attacks (FN) are costly — policy matters</a:t>
            </a:r>
          </a:p>
        </p:txBody>
      </p:sp>
      <p:pic>
        <p:nvPicPr>
          <p:cNvPr id="6" name="Picture 5" descr="model_binary_f1_vs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37360"/>
            <a:ext cx="512064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Evaluation figures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8FA6B5"/>
                </a:solidFill>
                <a:latin typeface="Calibri"/>
              </a:rPr>
              <a:t>IID test confusion matrix &amp; ROC</a:t>
            </a:r>
          </a:p>
        </p:txBody>
      </p:sp>
      <p:pic>
        <p:nvPicPr>
          <p:cNvPr id="5" name="Picture 4" descr="binary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715000" cy="4572000"/>
          </a:xfrm>
          <a:prstGeom prst="rect">
            <a:avLst/>
          </a:prstGeom>
        </p:spPr>
      </p:pic>
      <p:pic>
        <p:nvPicPr>
          <p:cNvPr id="6" name="Picture 5" descr="binary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54480"/>
            <a:ext cx="5715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Temporal generalization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8FA6B5"/>
                </a:solidFill>
                <a:latin typeface="Calibri"/>
              </a:rPr>
              <a:t>Frozen models · day-aware Friday holdout · no retrain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Friday sample (n=36k, attack rate ~34%): binary F1 0.9977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Mon–Thu sample (n=60k, ~7% attacks): binary F1 0.980 — mild drop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Friday multiclass only Bot/DDoS/PortScan — not a 6-class temporal claim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Message: IID strength ≠ automatic temporal / live generalization</a:t>
            </a:r>
          </a:p>
        </p:txBody>
      </p:sp>
      <p:pic>
        <p:nvPicPr>
          <p:cNvPr id="6" name="Picture 5" descr="temporal_generalization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5212080" cy="29432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Drift &amp; residual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8FA6B5"/>
                </a:solidFill>
                <a:latin typeface="Calibri"/>
              </a:rPr>
              <a:t>IID monitoring + confusion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Train→test IID drift: 0 features with PSI ≥ 0.2 (expected same-corpus)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Binary residuals: FP 1,377 · FN 255 (FPR 0.00329 / FNR 0.00300)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Multiclass: 18 errors / 85,139 attacks — PortScan / DoS / WebAttack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7F0F5"/>
                </a:solidFill>
                <a:latin typeface="Calibri"/>
              </a:rPr>
              <a:t>•  PSI≈0 ≠ live drift absence · external dataset = future work</a:t>
            </a:r>
          </a:p>
        </p:txBody>
      </p:sp>
      <p:pic>
        <p:nvPicPr>
          <p:cNvPr id="6" name="Picture 5" descr="error_multiclass_top_confu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5212080" cy="29317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Explainability (RQ2 / RQ3)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SHAP: feature contributions for each prediction (primary)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LIME: local surrogate explanation (secondary)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Live demo: Detection → Why? → SHAP / LIME tabs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Decision support — not treated as causal proof</a:t>
            </a:r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3736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Risk &amp; recommendations (RQ4)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Risk weights: 50% attack base · 25% confidence · 15% intensity · 10% asset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Severity bands: LOW / MEDIUM / HIGH / CRITICAL (project conventions)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Playbooks: rate limiting, filtering, WAF, isolation, …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Advisory only — platform does not auto-block real networks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Simulation (RQ5) —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8FA6B5"/>
                </a:solidFill>
                <a:latin typeface="Calibri"/>
              </a:rPr>
              <a:t>Attack → Detect → Defend → Recover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Topology: Attacker → Firewall → Router → Server / PCs + IDS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Step: normal → attack → impact → IDS alert → defense → recovery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Defense effectiveness values are simulation assumptions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Safety: controlled visualization only — no real cyberattacks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Limitations &amp; threats to validity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CICIDS2017 age / scenario structure ≠ continuous enterprise traffic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Temporal slices are capped samples; multiclass temporal coverage incomplete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IID drift check ≠ temporal / live / cross-dataset drift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External-dataset validation not performed — stated as future work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E7F0F5"/>
                </a:solidFill>
                <a:latin typeface="Calibri"/>
              </a:rPr>
              <a:t>•  Not a claim of production IDS readiness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EC7C2"/>
                </a:solidFill>
                <a:latin typeface="Calibri"/>
              </a:rPr>
              <a:t>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Integrated ML-IDS decision-support + visualization platform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Honest evaluation: IID · temporal · drift · residual errors · model selection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7F0F5"/>
                </a:solidFill>
                <a:latin typeface="Calibri"/>
              </a:rPr>
              <a:t>•  Research baseline frozen; Stage-2 productionization is a separate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8FA6B5"/>
                </a:solidFill>
                <a:latin typeface="Calibri"/>
              </a:rPr>
              <a:t>Questions?   ·   docs/DEMO.md   ·   docs/VIVA_QA.md   ·   docs/Aegis_IDS_Project_Report.docx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