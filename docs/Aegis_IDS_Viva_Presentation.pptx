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 b="1">
                <a:solidFill>
                  <a:srgbClr val="3EC7C2"/>
                </a:solidFill>
                <a:latin typeface="Calibri"/>
              </a:rPr>
              <a:t>Aegis IDS</a:t>
            </a:r>
          </a:p>
          <a:p>
            <a:pPr algn="ctr"/>
            <a:r>
              <a:rPr sz="2400" b="0">
                <a:solidFill>
                  <a:srgbClr val="E7F0F5"/>
                </a:solidFill>
                <a:latin typeface="Calibri"/>
              </a:rPr>
              <a:t>Intelligent ML-Based Intrusion Detection
&amp; Attack–Defense Simulation System</a:t>
            </a:r>
          </a:p>
          <a:p>
            <a:pPr algn="ctr"/>
            <a:r>
              <a:rPr sz="1500" b="0">
                <a:solidFill>
                  <a:srgbClr val="8FA6B5"/>
                </a:solidFill>
                <a:latin typeface="Calibri"/>
              </a:rPr>
              <a:t>
v1.1-research  →  v2.0-aegis-productionized
Decision Tree @ 0.85  ·  Random Forest (attack-only)  ·  P12 PASS</a:t>
            </a:r>
          </a:p>
          <a:p>
            <a:pPr algn="ctr"/>
            <a:r>
              <a:rPr sz="1400" b="0">
                <a:solidFill>
                  <a:srgbClr val="8FA6B5"/>
                </a:solidFill>
                <a:latin typeface="Calibri"/>
              </a:rPr>
              <a:t>
Team members  ·  College  ·  Year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3EC7C2"/>
                </a:solidFill>
                <a:latin typeface="Calibri"/>
              </a:rPr>
              <a:t>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155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8FA6B5"/>
                </a:solidFill>
                <a:latin typeface="Calibri"/>
              </a:rPr>
              <a:t>Why a classic IDS alert is not enough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 b="0">
                <a:solidFill>
                  <a:srgbClr val="E7F0F5"/>
                </a:solidFill>
                <a:latin typeface="Calibri"/>
              </a:rPr>
              <a:t>•  Typical IDS output: “Attack detected.”</a:t>
            </a:r>
          </a:p>
          <a:p>
            <a:pPr>
              <a:spcAft>
                <a:spcPts val="700"/>
              </a:spcAft>
            </a:pPr>
            <a:r>
              <a:rPr sz="1800" b="0">
                <a:solidFill>
                  <a:srgbClr val="E7F0F5"/>
                </a:solidFill>
                <a:latin typeface="Calibri"/>
              </a:rPr>
              <a:t>•  Analysts still need: attack type · why · severity · recommended action</a:t>
            </a:r>
          </a:p>
          <a:p>
            <a:pPr>
              <a:spcAft>
                <a:spcPts val="700"/>
              </a:spcAft>
            </a:pPr>
            <a:r>
              <a:rPr sz="1800" b="0">
                <a:solidFill>
                  <a:srgbClr val="E7F0F5"/>
                </a:solidFill>
                <a:latin typeface="Calibri"/>
              </a:rPr>
              <a:t>•  Evaluators need a clear attack → defense story with honest limits</a:t>
            </a:r>
          </a:p>
          <a:p>
            <a:pPr>
              <a:spcAft>
                <a:spcPts val="700"/>
              </a:spcAft>
            </a:pPr>
            <a:r>
              <a:rPr sz="1800" b="0">
                <a:solidFill>
                  <a:srgbClr val="E7F0F5"/>
                </a:solidFill>
                <a:latin typeface="Calibri"/>
              </a:rPr>
              <a:t>•  Gap: detection alone ≠ security decision support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8FA6B5"/>
                </a:solidFill>
                <a:latin typeface="Calibri"/>
              </a:rPr>
              <a:t>Aegis IDS  ·  v2.0-aegis-productionized  ·  Research baseline v1.1-research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3EC7C2"/>
                </a:solidFill>
                <a:latin typeface="Calibri"/>
              </a:rPr>
              <a:t>Motivation &amp;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700" b="0">
                <a:solidFill>
                  <a:srgbClr val="E7F0F5"/>
                </a:solidFill>
                <a:latin typeface="Calibri"/>
              </a:rPr>
              <a:t>•  Bridge detection → explainable decision support with human control</a:t>
            </a:r>
          </a:p>
          <a:p>
            <a:pPr>
              <a:spcAft>
                <a:spcPts val="700"/>
              </a:spcAft>
            </a:pPr>
            <a:r>
              <a:rPr sz="1700" b="0">
                <a:solidFill>
                  <a:srgbClr val="E7F0F5"/>
                </a:solidFill>
                <a:latin typeface="Calibri"/>
              </a:rPr>
              <a:t>•  Detect &amp; classify CICIDS2017 flows with a frozen research baseline</a:t>
            </a:r>
          </a:p>
          <a:p>
            <a:pPr>
              <a:spcAft>
                <a:spcPts val="700"/>
              </a:spcAft>
            </a:pPr>
            <a:r>
              <a:rPr sz="1700" b="0">
                <a:solidFill>
                  <a:srgbClr val="E7F0F5"/>
                </a:solidFill>
                <a:latin typeface="Calibri"/>
              </a:rPr>
              <a:t>•  Explain (SHAP), score risk, recommend advisory defenses</a:t>
            </a:r>
          </a:p>
          <a:p>
            <a:pPr>
              <a:spcAft>
                <a:spcPts val="700"/>
              </a:spcAft>
            </a:pPr>
            <a:r>
              <a:rPr sz="1700" b="0">
                <a:solidFill>
                  <a:srgbClr val="E7F0F5"/>
                </a:solidFill>
                <a:latin typeface="Calibri"/>
              </a:rPr>
              <a:t>•  Simulate the lifecycle; apply CONTROLLED responses with approval</a:t>
            </a:r>
          </a:p>
          <a:p>
            <a:pPr>
              <a:spcAft>
                <a:spcPts val="700"/>
              </a:spcAft>
            </a:pPr>
            <a:r>
              <a:rPr sz="1700" b="0">
                <a:solidFill>
                  <a:srgbClr val="E7F0F5"/>
                </a:solidFill>
                <a:latin typeface="Calibri"/>
              </a:rPr>
              <a:t>•  Productionize safely (P0–P12) without inflating research metrics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8FA6B5"/>
                </a:solidFill>
                <a:latin typeface="Calibri"/>
              </a:rPr>
              <a:t>Aegis IDS  ·  v2.0-aegis-productionized  ·  Research baseline v1.1-research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3EC7C2"/>
                </a:solidFill>
                <a:latin typeface="Calibri"/>
              </a:rPr>
              <a:t>Limitations of many existing demos / systems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700" b="0">
                <a:solidFill>
                  <a:srgbClr val="E7F0F5"/>
                </a:solidFill>
                <a:latin typeface="Calibri"/>
              </a:rPr>
              <a:t>•  High CICIDS accuracy without temporal / drift honesty</a:t>
            </a:r>
          </a:p>
          <a:p>
            <a:pPr>
              <a:spcAft>
                <a:spcPts val="700"/>
              </a:spcAft>
            </a:pPr>
            <a:r>
              <a:rPr sz="1700" b="0">
                <a:solidFill>
                  <a:srgbClr val="E7F0F5"/>
                </a:solidFill>
                <a:latin typeface="Calibri"/>
              </a:rPr>
              <a:t>•  Opaque models → weak analyst trust</a:t>
            </a:r>
          </a:p>
          <a:p>
            <a:pPr>
              <a:spcAft>
                <a:spcPts val="700"/>
              </a:spcAft>
            </a:pPr>
            <a:r>
              <a:rPr sz="1700" b="0">
                <a:solidFill>
                  <a:srgbClr val="E7F0F5"/>
                </a:solidFill>
                <a:latin typeface="Calibri"/>
              </a:rPr>
              <a:t>•  Recommendations missing or auto-enforcement without safeguards</a:t>
            </a:r>
          </a:p>
          <a:p>
            <a:pPr>
              <a:spcAft>
                <a:spcPts val="700"/>
              </a:spcAft>
            </a:pPr>
            <a:r>
              <a:rPr sz="1700" b="0">
                <a:solidFill>
                  <a:srgbClr val="E7F0F5"/>
                </a:solidFill>
                <a:latin typeface="Calibri"/>
              </a:rPr>
              <a:t>•  Simulation efficacy confused with measured mitigation</a:t>
            </a:r>
          </a:p>
          <a:p>
            <a:pPr>
              <a:spcAft>
                <a:spcPts val="700"/>
              </a:spcAft>
            </a:pPr>
            <a:r>
              <a:rPr sz="1700" b="0">
                <a:solidFill>
                  <a:srgbClr val="E7F0F5"/>
                </a:solidFill>
                <a:latin typeface="Calibri"/>
              </a:rPr>
              <a:t>•  Weak story for auth, audit, persistence, and fail-safe recovery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8FA6B5"/>
                </a:solidFill>
                <a:latin typeface="Calibri"/>
              </a:rPr>
              <a:t>Aegis IDS  ·  v2.0-aegis-productionized  ·  Research baseline v1.1-research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3EC7C2"/>
                </a:solidFill>
                <a:latin typeface="Calibri"/>
              </a:rPr>
              <a:t>Proposed: Aegis IDS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155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8FA6B5"/>
                </a:solidFill>
                <a:latin typeface="Calibri"/>
              </a:rPr>
              <a:t>One coherent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700" b="0">
                <a:solidFill>
                  <a:srgbClr val="E7F0F5"/>
                </a:solidFill>
                <a:latin typeface="Calibri"/>
              </a:rPr>
              <a:t>•  Detect → Classify → Explain → Risk → Recommend → Approve → CONTROLLED response → Simulate</a:t>
            </a:r>
          </a:p>
          <a:p>
            <a:pPr>
              <a:spcAft>
                <a:spcPts val="700"/>
              </a:spcAft>
            </a:pPr>
            <a:r>
              <a:rPr sz="1700" b="0">
                <a:solidFill>
                  <a:srgbClr val="E7F0F5"/>
                </a:solidFill>
                <a:latin typeface="Calibri"/>
              </a:rPr>
              <a:t>•  Contribution: integration + honest evaluation — not a new IDS algorithm claim</a:t>
            </a:r>
          </a:p>
          <a:p>
            <a:pPr>
              <a:spcAft>
                <a:spcPts val="700"/>
              </a:spcAft>
            </a:pPr>
            <a:r>
              <a:rPr sz="1700" b="0">
                <a:solidFill>
                  <a:srgbClr val="E7F0F5"/>
                </a:solidFill>
                <a:latin typeface="Calibri"/>
              </a:rPr>
              <a:t>•  Hard boundary: no live firewall/EDR · no unapproved automatic response</a:t>
            </a:r>
          </a:p>
          <a:p>
            <a:pPr>
              <a:spcAft>
                <a:spcPts val="700"/>
              </a:spcAft>
            </a:pPr>
            <a:r>
              <a:rPr sz="1700" b="0">
                <a:solidFill>
                  <a:srgbClr val="E7F0F5"/>
                </a:solidFill>
                <a:latin typeface="Calibri"/>
              </a:rPr>
              <a:t>•  Tags: v1.1-research (freeze) · v2.0-aegis-productionized (prototype)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8FA6B5"/>
                </a:solidFill>
                <a:latin typeface="Calibri"/>
              </a:rPr>
              <a:t>Aegis IDS  ·  v2.0-aegis-productionized  ·  Research baseline v1.1-research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3EC7C2"/>
                </a:solidFill>
                <a:latin typeface="Calibr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6400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 b="0">
                <a:solidFill>
                  <a:srgbClr val="E7F0F5"/>
                </a:solidFill>
                <a:latin typeface="Calibri"/>
              </a:rPr>
              <a:t>•  React SOC UI  ↔  FastAPI  ↔  ML + Risk + XAI + Response + Simulation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E7F0F5"/>
                </a:solidFill>
                <a:latin typeface="Calibri"/>
              </a:rPr>
              <a:t>•  Adapters: DRY_RUN | CONTROLLED (TestNetworkAdapter) | LIVE (forbidden)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E7F0F5"/>
                </a:solidFill>
                <a:latin typeface="Calibri"/>
              </a:rPr>
              <a:t>•  Persistence: SQLite incidents / actions / append-only audit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E7F0F5"/>
                </a:solidFill>
                <a:latin typeface="Calibri"/>
              </a:rPr>
              <a:t>•  Observability: /api/ready · ops metrics · System page</a:t>
            </a:r>
          </a:p>
        </p:txBody>
      </p:sp>
      <p:pic>
        <p:nvPicPr>
          <p:cNvPr id="5" name="Picture 4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554480"/>
            <a:ext cx="4846320" cy="22040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4652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8FA6B5"/>
                </a:solidFill>
                <a:latin typeface="Calibri"/>
              </a:rPr>
              <a:t>Aegis IDS  ·  v2.0-aegis-productionized  ·  Research baseline v1.1-research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3EC7C2"/>
                </a:solidFill>
                <a:latin typeface="Calibri"/>
              </a:rPr>
              <a:t>Dataset &amp; preprocessing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155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8FA6B5"/>
                </a:solidFill>
                <a:latin typeface="Calibri"/>
              </a:rPr>
              <a:t>CICIDS2017 MachineLearningCVE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 b="0">
                <a:solidFill>
                  <a:srgbClr val="E7F0F5"/>
                </a:solidFill>
                <a:latin typeface="Calibri"/>
              </a:rPr>
              <a:t>•  Clean · normalize labels · drop rare classes (&lt;50 samples)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E7F0F5"/>
                </a:solidFill>
                <a:latin typeface="Calibri"/>
              </a:rPr>
              <a:t>•  ~2.52M flows after cleaning; stratified 70% / 10% / 20%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E7F0F5"/>
                </a:solidFill>
                <a:latin typeface="Calibri"/>
              </a:rPr>
              <a:t>•  Splits: 1,764,525 / 252,075 / 504,151 · random_state=42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E7F0F5"/>
                </a:solidFill>
                <a:latin typeface="Calibri"/>
              </a:rPr>
              <a:t>•  StandardScaler + SelectKBest(f_classif, k=40) · dual selectors · train-only fit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E7F0F5"/>
                </a:solidFill>
                <a:latin typeface="Calibri"/>
              </a:rPr>
              <a:t>•  Families: Bot · BruteForce · DDoS · DoS · PortScan · WebAttack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8FA6B5"/>
                </a:solidFill>
                <a:latin typeface="Calibri"/>
              </a:rPr>
              <a:t>Aegis IDS  ·  v2.0-aegis-productionized  ·  Research baseline v1.1-research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3EC7C2"/>
                </a:solidFill>
                <a:latin typeface="Calibri"/>
              </a:rPr>
              <a:t>ML architecture (two-stage)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 b="0">
                <a:solidFill>
                  <a:srgbClr val="E7F0F5"/>
                </a:solidFill>
                <a:latin typeface="Calibri"/>
              </a:rPr>
              <a:t>•  Stage 1 — Binary: BENIGN vs ATTACK → Decision Tree @ threshold 0.85</a:t>
            </a:r>
          </a:p>
          <a:p>
            <a:pPr>
              <a:spcAft>
                <a:spcPts val="700"/>
              </a:spcAft>
            </a:pPr>
            <a:r>
              <a:rPr sz="1800" b="0">
                <a:solidFill>
                  <a:srgbClr val="E7F0F5"/>
                </a:solidFill>
                <a:latin typeface="Calibri"/>
              </a:rPr>
              <a:t>•  Stage 2 — Attack-only multiclass → Random Forest (no BENIGN class)</a:t>
            </a:r>
          </a:p>
          <a:p>
            <a:pPr>
              <a:spcAft>
                <a:spcPts val="700"/>
              </a:spcAft>
            </a:pPr>
            <a:r>
              <a:rPr sz="1800" b="0">
                <a:solidFill>
                  <a:srgbClr val="E7F0F5"/>
                </a:solidFill>
                <a:latin typeface="Calibri"/>
              </a:rPr>
              <a:t>•  Candidates compared: Logistic Regression, DT, RF, XGBoost</a:t>
            </a:r>
          </a:p>
          <a:p>
            <a:pPr>
              <a:spcAft>
                <a:spcPts val="700"/>
              </a:spcAft>
            </a:pPr>
            <a:r>
              <a:rPr sz="1800" b="0">
                <a:solidFill>
                  <a:srgbClr val="E7F0F5"/>
                </a:solidFill>
                <a:latin typeface="Calibri"/>
              </a:rPr>
              <a:t>•  Same feature pipeline for fair algorithm ablation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8FA6B5"/>
                </a:solidFill>
                <a:latin typeface="Calibri"/>
              </a:rPr>
              <a:t>Aegis IDS  ·  v2.0-aegis-productionized  ·  Research baseline v1.1-research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3EC7C2"/>
                </a:solidFill>
                <a:latin typeface="Calibri"/>
              </a:rPr>
              <a:t>Model results (research IID)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155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8FA6B5"/>
                </a:solidFill>
                <a:latin typeface="Calibri"/>
              </a:rPr>
              <a:t>Frozen artifacts — not a live-network guarantee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58521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 b="0">
                <a:solidFill>
                  <a:srgbClr val="E7F0F5"/>
                </a:solidFill>
                <a:latin typeface="Calibri"/>
              </a:rPr>
              <a:t>•  Binary DT @ 0.85: F1 0.99048 · Recall 0.997 · PR-AUC 0.99744 · ROC-AUC 0.99916</a:t>
            </a: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E7F0F5"/>
                </a:solidFill>
                <a:latin typeface="Calibri"/>
              </a:rPr>
              <a:t>•  Binary residuals: FP 1,377 · FN 255 (FPR 0.00329 / FNR 0.00300)</a:t>
            </a: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E7F0F5"/>
                </a:solidFill>
                <a:latin typeface="Calibri"/>
              </a:rPr>
              <a:t>•  Multiclass RF: macro-F1 0.99813 · weighted-F1 0.99979 · accuracy 0.99979</a:t>
            </a: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E7F0F5"/>
                </a:solidFill>
                <a:latin typeface="Calibri"/>
              </a:rPr>
              <a:t>•  Cite as: performance on the stratified IID holdout</a:t>
            </a:r>
          </a:p>
        </p:txBody>
      </p:sp>
      <p:pic>
        <p:nvPicPr>
          <p:cNvPr id="6" name="Picture 5" descr="binary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508760"/>
            <a:ext cx="2914650" cy="2331720"/>
          </a:xfrm>
          <a:prstGeom prst="rect">
            <a:avLst/>
          </a:prstGeom>
        </p:spPr>
      </p:pic>
      <p:pic>
        <p:nvPicPr>
          <p:cNvPr id="7" name="Picture 6" descr="binary_ro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3931920"/>
            <a:ext cx="2743200" cy="21945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44652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8FA6B5"/>
                </a:solidFill>
                <a:latin typeface="Calibri"/>
              </a:rPr>
              <a:t>Aegis IDS  ·  v2.0-aegis-productionized  ·  Research baseline v1.1-research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3EC7C2"/>
                </a:solidFill>
                <a:latin typeface="Calibri"/>
              </a:rPr>
              <a:t>Why Decision Tree (not XGBoost)?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155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8FA6B5"/>
                </a:solidFill>
                <a:latin typeface="Calibri"/>
              </a:rPr>
              <a:t>Multi-objective selection — recall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5943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 b="0">
                <a:solidFill>
                  <a:srgbClr val="E7F0F5"/>
                </a:solidFill>
                <a:latin typeface="Calibri"/>
              </a:rPr>
              <a:t>•  Weights: recall 0.30 · F1 0.25 · PR-AUC 0.20 · FPR 0.15 · latency 0.10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E7F0F5"/>
                </a:solidFill>
                <a:latin typeface="Calibri"/>
              </a:rPr>
              <a:t>•  XGBoost can win raw F1; Decision Tree wins attack recall → selected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E7F0F5"/>
                </a:solidFill>
                <a:latin typeface="Calibri"/>
              </a:rPr>
              <a:t>•  Multiclass: Random Forest edges XGBoost on macro/weighted blend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E7F0F5"/>
                </a:solidFill>
                <a:latin typeface="Calibri"/>
              </a:rPr>
              <a:t>•  For IDS, missed attacks (FN) are costly — selection policy matters</a:t>
            </a:r>
          </a:p>
        </p:txBody>
      </p:sp>
      <p:pic>
        <p:nvPicPr>
          <p:cNvPr id="6" name="Picture 5" descr="model_binary_f1_vs_rec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91640"/>
            <a:ext cx="5120640" cy="3413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8FA6B5"/>
                </a:solidFill>
                <a:latin typeface="Calibri"/>
              </a:rPr>
              <a:t>Aegis IDS  ·  v2.0-aegis-productionized  ·  Research baseline v1.1-research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3EC7C2"/>
                </a:solidFill>
                <a:latin typeface="Calibri"/>
              </a:rPr>
              <a:t>Explainability &amp;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155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8FA6B5"/>
                </a:solidFill>
                <a:latin typeface="Calibri"/>
              </a:rPr>
              <a:t>Decision support — not causality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5943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 b="0">
                <a:solidFill>
                  <a:srgbClr val="E7F0F5"/>
                </a:solidFill>
                <a:latin typeface="Calibri"/>
              </a:rPr>
              <a:t>•  SHAP primary · LIME secondary (Detection → Why? tabs)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E7F0F5"/>
                </a:solidFill>
                <a:latin typeface="Calibri"/>
              </a:rPr>
              <a:t>•  Risk blend: 50% attack base · 25% confidence · 15% intensity · 10% asset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E7F0F5"/>
                </a:solidFill>
                <a:latin typeface="Calibri"/>
              </a:rPr>
              <a:t>•  Severity bands: LOW / MEDIUM / HIGH / CRITICAL (project conventions)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E7F0F5"/>
                </a:solidFill>
                <a:latin typeface="Calibri"/>
              </a:rPr>
              <a:t>•  Recommendations are advisory until human approval</a:t>
            </a:r>
          </a:p>
        </p:txBody>
      </p:sp>
      <p:pic>
        <p:nvPicPr>
          <p:cNvPr id="6" name="Picture 5" descr="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91640"/>
            <a:ext cx="5029200" cy="31432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8FA6B5"/>
                </a:solidFill>
                <a:latin typeface="Calibri"/>
              </a:rPr>
              <a:t>Aegis IDS  ·  v2.0-aegis-productionized  ·  Research baseline v1.1-research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3EC7C2"/>
                </a:solidFill>
                <a:latin typeface="Calibri"/>
              </a:rPr>
              <a:t>Attack–defense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155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8FA6B5"/>
                </a:solidFill>
                <a:latin typeface="Calibri"/>
              </a:rPr>
              <a:t>Visualization only — assumptions ≠ measurements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 b="0">
                <a:solidFill>
                  <a:srgbClr val="E7F0F5"/>
                </a:solidFill>
                <a:latin typeface="Calibri"/>
              </a:rPr>
              <a:t>•  idle → normal → attack_start → attack_impact → detected → recommended → defended → recovered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E7F0F5"/>
                </a:solidFill>
                <a:latin typeface="Calibri"/>
              </a:rPr>
              <a:t>•  Topology: Attacker → Firewall → Router → Server / PCs + IDS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E7F0F5"/>
                </a:solidFill>
                <a:latin typeface="Calibri"/>
              </a:rPr>
              <a:t>•  Simulation priors (examples): DDoS 0.82 · DoS 0.78 (config.yaml)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E7F0F5"/>
                </a:solidFill>
                <a:latin typeface="Calibri"/>
              </a:rPr>
              <a:t>•  Safety: controlled visualization — no real cyberattacks / no live mitigation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8FA6B5"/>
                </a:solidFill>
                <a:latin typeface="Calibri"/>
              </a:rPr>
              <a:t>Aegis IDS  ·  v2.0-aegis-productionized  ·  Research baseline v1.1-research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3EC7C2"/>
                </a:solidFill>
                <a:latin typeface="Calibri"/>
              </a:rPr>
              <a:t>Controlled response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155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8FA6B5"/>
                </a:solidFill>
                <a:latin typeface="Calibri"/>
              </a:rPr>
              <a:t>Human-in-the-loop safety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 b="0">
                <a:solidFill>
                  <a:srgbClr val="E7F0F5"/>
                </a:solidFill>
                <a:latin typeface="Calibri"/>
              </a:rPr>
              <a:t>•  Lifecycle: propose → dry-run → approve → execute → verify → rollback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E7F0F5"/>
                </a:solidFill>
                <a:latin typeface="Calibri"/>
              </a:rPr>
              <a:t>•  Modes: DRY_RUN · CONTROLLED (TestNetworkAdapter) · LIVE forbidden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E7F0F5"/>
                </a:solidFill>
                <a:latin typeface="Calibri"/>
              </a:rPr>
              <a:t>•  RBAC: viewer (read) · analyst (propose) · responder/admin (approve/rollback)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E7F0F5"/>
                </a:solidFill>
                <a:latin typeface="Calibri"/>
              </a:rPr>
              <a:t>•  Verify failure → rollback · reclaim never auto-replays dangerous actions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8FA6B5"/>
                </a:solidFill>
                <a:latin typeface="Calibri"/>
              </a:rPr>
              <a:t>Aegis IDS  ·  v2.0-aegis-productionized  ·  Research baseline v1.1-research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3EC7C2"/>
                </a:solidFill>
                <a:latin typeface="Calibri"/>
              </a:rPr>
              <a:t>P11 — Empirical mitigation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155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8FA6B5"/>
                </a:solidFill>
                <a:latin typeface="Calibri"/>
              </a:rPr>
              <a:t>Controlled lab measurements vs simulation priors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 b="0">
                <a:solidFill>
                  <a:srgbClr val="E7F0F5"/>
                </a:solidFill>
                <a:latin typeface="Calibri"/>
              </a:rPr>
              <a:t>•  Conditions: no_defense vs recommendation_only vs controlled_response (N=10)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E7F0F5"/>
                </a:solidFill>
                <a:latin typeface="Calibri"/>
              </a:rPr>
              <a:t>•  DDoS BLOCK_SOURCE: measured effectiveness 1.00  (sim prior 0.82 · Δ +0.18)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E7F0F5"/>
                </a:solidFill>
                <a:latin typeface="Calibri"/>
              </a:rPr>
              <a:t>•  DoS RATE_LIMIT: measured effectiveness 0.80  (sim prior 0.78 · Δ +0.02)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E7F0F5"/>
                </a:solidFill>
                <a:latin typeface="Calibri"/>
              </a:rPr>
              <a:t>•  Recommendation-only does not change traffic — detects ≠ mitigates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E7F0F5"/>
                </a:solidFill>
                <a:latin typeface="Calibri"/>
              </a:rPr>
              <a:t>•  CONTROLLED lab only — not production firewall/EDR effectiveness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62356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0B429"/>
                </a:solidFill>
                <a:latin typeface="Calibri"/>
              </a:rPr>
              <a:t>Keep both numbers: simulation assumptions stay labelled assumptions.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8FA6B5"/>
                </a:solidFill>
                <a:latin typeface="Calibri"/>
              </a:rPr>
              <a:t>Aegis IDS  ·  v2.0-aegis-productionized  ·  Research baseline v1.1-research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3EC7C2"/>
                </a:solidFill>
                <a:latin typeface="Calibri"/>
              </a:rPr>
              <a:t>P12 — Final security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155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8FA6B5"/>
                </a:solidFill>
                <a:latin typeface="Calibri"/>
              </a:rPr>
              <a:t>Overall: PASS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700" b="0">
                <a:solidFill>
                  <a:srgbClr val="E7F0F5"/>
                </a:solidFill>
                <a:latin typeface="Calibri"/>
              </a:rPr>
              <a:t>•  Auth/RBAC · Response safety · API/input · Persistence/recovery</a:t>
            </a:r>
          </a:p>
          <a:p>
            <a:pPr>
              <a:spcAft>
                <a:spcPts val="700"/>
              </a:spcAft>
            </a:pPr>
            <a:r>
              <a:rPr sz="1700" b="0">
                <a:solidFill>
                  <a:srgbClr val="E7F0F5"/>
                </a:solidFill>
                <a:latin typeface="Calibri"/>
              </a:rPr>
              <a:t>•  Model-serving · Simulation isolation · Empirical integrity · Audit</a:t>
            </a:r>
          </a:p>
          <a:p>
            <a:pPr>
              <a:spcAft>
                <a:spcPts val="700"/>
              </a:spcAft>
            </a:pPr>
            <a:r>
              <a:rPr sz="1700" b="0">
                <a:solidFill>
                  <a:srgbClr val="E7F0F5"/>
                </a:solidFill>
                <a:latin typeface="Calibri"/>
              </a:rPr>
              <a:t>•  Production boundary · Frozen research baseline hashes</a:t>
            </a:r>
          </a:p>
          <a:p>
            <a:pPr>
              <a:spcAft>
                <a:spcPts val="700"/>
              </a:spcAft>
            </a:pPr>
            <a:r>
              <a:rPr sz="1700" b="0">
                <a:solidFill>
                  <a:srgbClr val="E7F0F5"/>
                </a:solidFill>
                <a:latin typeface="Calibri"/>
              </a:rPr>
              <a:t>•  Outcome: productionized security-validated prototype — not enterprise SOC claim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8FA6B5"/>
                </a:solidFill>
                <a:latin typeface="Calibri"/>
              </a:rPr>
              <a:t>Aegis IDS  ·  v2.0-aegis-productionized  ·  Research baseline v1.1-research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3EC7C2"/>
                </a:solidFill>
                <a:latin typeface="Calibri"/>
              </a:rPr>
              <a:t>System demonstration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155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8FA6B5"/>
                </a:solidFill>
                <a:latin typeface="Calibri"/>
              </a:rPr>
              <a:t>See docs/DEMO.md for exact clicks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700" b="0">
                <a:solidFill>
                  <a:srgbClr val="E7F0F5"/>
                </a:solidFill>
                <a:latin typeface="Calibri"/>
              </a:rPr>
              <a:t>•  UI http://127.0.0.1:5173  ·  API http://127.0.0.1:8000/docs</a:t>
            </a:r>
          </a:p>
          <a:p>
            <a:pPr>
              <a:spcAft>
                <a:spcPts val="700"/>
              </a:spcAft>
            </a:pPr>
            <a:r>
              <a:rPr sz="1700" b="0">
                <a:solidFill>
                  <a:srgbClr val="E7F0F5"/>
                </a:solidFill>
                <a:latin typeface="Calibri"/>
              </a:rPr>
              <a:t>•  Flow: Detection → classification / SHAP → risk → incident</a:t>
            </a:r>
          </a:p>
          <a:p>
            <a:pPr>
              <a:spcAft>
                <a:spcPts val="700"/>
              </a:spcAft>
            </a:pPr>
            <a:r>
              <a:rPr sz="1700" b="0">
                <a:solidFill>
                  <a:srgbClr val="E7F0F5"/>
                </a:solidFill>
                <a:latin typeface="Calibri"/>
              </a:rPr>
              <a:t>•  Propose → dry-run → approve (CONTROLLED) → verify</a:t>
            </a:r>
          </a:p>
          <a:p>
            <a:pPr>
              <a:spcAft>
                <a:spcPts val="700"/>
              </a:spcAft>
            </a:pPr>
            <a:r>
              <a:rPr sz="1700" b="0">
                <a:solidFill>
                  <a:srgbClr val="E7F0F5"/>
                </a:solidFill>
                <a:latin typeface="Calibri"/>
              </a:rPr>
              <a:t>•  Simulation lifecycle · System / ops readiness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8FA6B5"/>
                </a:solidFill>
                <a:latin typeface="Calibri"/>
              </a:rPr>
              <a:t>Aegis IDS  ·  v2.0-aegis-productionized  ·  Research baseline v1.1-research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3EC7C2"/>
                </a:solidFill>
                <a:latin typeface="Calibri"/>
              </a:rPr>
              <a:t>Limitations &amp; 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 b="0">
                <a:solidFill>
                  <a:srgbClr val="E7F0F5"/>
                </a:solidFill>
                <a:latin typeface="Calibri"/>
              </a:rPr>
              <a:t>•  CICIDS2017 IID ≠ continuous enterprise traffic · no zero-day claim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E7F0F5"/>
                </a:solidFill>
                <a:latin typeface="Calibri"/>
              </a:rPr>
              <a:t>•  Temporal multiclass incomplete for some families · external dataset = future work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E7F0F5"/>
                </a:solidFill>
                <a:latin typeface="Calibri"/>
              </a:rPr>
              <a:t>•  Simulation efficacy = assumptions · P11 = CONTROLLED lab, not live EDR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E7F0F5"/>
                </a:solidFill>
                <a:latin typeface="Calibri"/>
              </a:rPr>
              <a:t>•  Future: frozen cross-dataset eval · broader temporal families · opt-in sandbox enforcement later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8FA6B5"/>
                </a:solidFill>
                <a:latin typeface="Calibri"/>
              </a:rPr>
              <a:t>Aegis IDS  ·  v2.0-aegis-productionized  ·  Research baseline v1.1-research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3EC7C2"/>
                </a:solidFill>
                <a:latin typeface="Calibri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700" b="0">
                <a:solidFill>
                  <a:srgbClr val="E7F0F5"/>
                </a:solidFill>
                <a:latin typeface="Calibri"/>
              </a:rPr>
              <a:t>•  Aegis IDS: productionized, security-validated IDS prototype</a:t>
            </a:r>
          </a:p>
          <a:p>
            <a:pPr>
              <a:spcAft>
                <a:spcPts val="700"/>
              </a:spcAft>
            </a:pPr>
            <a:r>
              <a:rPr sz="1700" b="0">
                <a:solidFill>
                  <a:srgbClr val="E7F0F5"/>
                </a:solidFill>
                <a:latin typeface="Calibri"/>
              </a:rPr>
              <a:t>•  Frozen ML + XAI + risk + controlled response + simulation + P11/P12 evidence</a:t>
            </a:r>
          </a:p>
          <a:p>
            <a:pPr>
              <a:spcAft>
                <a:spcPts val="700"/>
              </a:spcAft>
            </a:pPr>
            <a:r>
              <a:rPr sz="1700" b="0">
                <a:solidFill>
                  <a:srgbClr val="E7F0F5"/>
                </a:solidFill>
                <a:latin typeface="Calibri"/>
              </a:rPr>
              <a:t>•  Hard boundary against live network enforcement preserved</a:t>
            </a:r>
          </a:p>
          <a:p>
            <a:pPr>
              <a:spcAft>
                <a:spcPts val="700"/>
              </a:spcAft>
            </a:pPr>
            <a:r>
              <a:rPr sz="1700" b="0">
                <a:solidFill>
                  <a:srgbClr val="E7F0F5"/>
                </a:solidFill>
                <a:latin typeface="Calibri"/>
              </a:rPr>
              <a:t>•  Questions?  docs/VIVA_QA.md  ·  docs/PROJECT_REPORT.md  ·  DEMO.md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8FA6B5"/>
                </a:solidFill>
                <a:latin typeface="Calibri"/>
              </a:rPr>
              <a:t>Thank you
v1.1-research  ·  v2.0-aegis-productionized  ·  P12 Overall PASS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8FA6B5"/>
                </a:solidFill>
                <a:latin typeface="Calibri"/>
              </a:rPr>
              <a:t>Fill Team / College / Year on slide 1 before the viva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